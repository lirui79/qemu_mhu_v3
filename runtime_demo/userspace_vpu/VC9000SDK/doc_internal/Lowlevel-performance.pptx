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8"/>
  </p:notesMasterIdLst>
  <p:sldIdLst>
    <p:sldId id="496" r:id="rId2"/>
    <p:sldId id="492" r:id="rId3"/>
    <p:sldId id="500" r:id="rId4"/>
    <p:sldId id="501" r:id="rId5"/>
    <p:sldId id="502" r:id="rId6"/>
    <p:sldId id="503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ff meeting" id="{DC495CDC-18D8-47E2-9043-535C24A9567F}">
          <p14:sldIdLst>
            <p14:sldId id="496"/>
            <p14:sldId id="492"/>
            <p14:sldId id="500"/>
            <p14:sldId id="501"/>
            <p14:sldId id="502"/>
            <p14:sldId id="5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8EE3"/>
    <a:srgbClr val="A6BEED"/>
    <a:srgbClr val="24446C"/>
    <a:srgbClr val="274A74"/>
    <a:srgbClr val="153860"/>
    <a:srgbClr val="264060"/>
    <a:srgbClr val="203C5D"/>
    <a:srgbClr val="F9F9F9"/>
    <a:srgbClr val="F8F8F9"/>
    <a:srgbClr val="1F3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14" autoAdjust="0"/>
    <p:restoredTop sz="88729" autoAdjust="0"/>
  </p:normalViewPr>
  <p:slideViewPr>
    <p:cSldViewPr snapToGrid="0">
      <p:cViewPr varScale="1">
        <p:scale>
          <a:sx n="97" d="100"/>
          <a:sy n="97" d="100"/>
        </p:scale>
        <p:origin x="34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7EE75-4071-459F-BF2D-C25D0B6C22B9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38619-31E4-4D17-95D0-5E6F081F29A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38619-31E4-4D17-95D0-5E6F081F29A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016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38619-31E4-4D17-95D0-5E6F081F29A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724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38619-31E4-4D17-95D0-5E6F081F29A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701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38619-31E4-4D17-95D0-5E6F081F29A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760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38619-31E4-4D17-95D0-5E6F081F29A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980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38619-31E4-4D17-95D0-5E6F081F29A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54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A02F-8C7E-47A0-B1F5-CBB356E6B1A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B70F3-24AB-4A1B-A468-32302FA68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68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A02F-8C7E-47A0-B1F5-CBB356E6B1A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B70F3-24AB-4A1B-A468-32302FA68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516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A02F-8C7E-47A0-B1F5-CBB356E6B1A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B70F3-24AB-4A1B-A468-32302FA68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96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A02F-8C7E-47A0-B1F5-CBB356E6B1A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B70F3-24AB-4A1B-A468-32302FA68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410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A02F-8C7E-47A0-B1F5-CBB356E6B1A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B70F3-24AB-4A1B-A468-32302FA68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90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A02F-8C7E-47A0-B1F5-CBB356E6B1A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B70F3-24AB-4A1B-A468-32302FA68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28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22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A02F-8C7E-47A0-B1F5-CBB356E6B1A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B70F3-24AB-4A1B-A468-32302FA68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137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A02F-8C7E-47A0-B1F5-CBB356E6B1A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B70F3-24AB-4A1B-A468-32302FA68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25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A02F-8C7E-47A0-B1F5-CBB356E6B1A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B70F3-24AB-4A1B-A468-32302FA68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090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A02F-8C7E-47A0-B1F5-CBB356E6B1A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B70F3-24AB-4A1B-A468-32302FA68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5219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A02F-8C7E-47A0-B1F5-CBB356E6B1A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B70F3-24AB-4A1B-A468-32302FA68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51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0" y="208818"/>
            <a:ext cx="9418320" cy="429992"/>
            <a:chOff x="0" y="217708"/>
            <a:chExt cx="9418320" cy="429992"/>
          </a:xfrm>
        </p:grpSpPr>
        <p:sp>
          <p:nvSpPr>
            <p:cNvPr id="28" name="标题 2"/>
            <p:cNvSpPr txBox="1"/>
            <p:nvPr/>
          </p:nvSpPr>
          <p:spPr>
            <a:xfrm>
              <a:off x="637540" y="217708"/>
              <a:ext cx="8780780" cy="42608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1. 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测试使用设备及源码</a:t>
              </a:r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commits</a:t>
              </a:r>
              <a:endParaRPr lang="zh-CN" altLang="en-US" sz="2800" dirty="0">
                <a:gradFill>
                  <a:gsLst>
                    <a:gs pos="53000">
                      <a:srgbClr val="294E7B"/>
                    </a:gs>
                    <a:gs pos="0">
                      <a:srgbClr val="132333"/>
                    </a:gs>
                    <a:gs pos="100000">
                      <a:srgbClr val="132333"/>
                    </a:gs>
                  </a:gsLst>
                  <a:lin ang="108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Kartika" panose="02020503030404060203" pitchFamily="18" charset="0"/>
                <a:sym typeface="+mn-ea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0" y="221272"/>
              <a:ext cx="482600" cy="426428"/>
            </a:xfrm>
            <a:prstGeom prst="rect">
              <a:avLst/>
            </a:prstGeom>
            <a:solidFill>
              <a:srgbClr val="26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552450" y="221272"/>
              <a:ext cx="58539" cy="426428"/>
            </a:xfrm>
            <a:prstGeom prst="rect">
              <a:avLst/>
            </a:prstGeom>
            <a:solidFill>
              <a:srgbClr val="26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0" y="6466205"/>
            <a:ext cx="12192000" cy="440055"/>
          </a:xfrm>
          <a:prstGeom prst="rect">
            <a:avLst/>
          </a:prstGeom>
          <a:gradFill>
            <a:gsLst>
              <a:gs pos="53000">
                <a:srgbClr val="294E7B"/>
              </a:gs>
              <a:gs pos="0">
                <a:srgbClr val="132333"/>
              </a:gs>
              <a:gs pos="100000">
                <a:srgbClr val="13233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4595464" y="6532443"/>
            <a:ext cx="3001784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Vastai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1400" b="0" i="0" u="none" strike="noStrike" kern="1200" cap="none" spc="-5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Confi</a:t>
            </a:r>
            <a:r>
              <a:rPr kumimoji="0" lang="en-US" altLang="zh-CN" sz="1400" b="0" i="0" u="none" strike="noStrike" kern="1200" cap="none" spc="5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d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e</a:t>
            </a:r>
            <a:r>
              <a:rPr kumimoji="0" lang="en-US" altLang="zh-CN" sz="1400" b="0" i="0" u="none" strike="noStrike" kern="1200" cap="none" spc="-5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n</a:t>
            </a:r>
            <a:r>
              <a:rPr kumimoji="0" lang="en-US" altLang="zh-CN" sz="1400" b="0" i="0" u="none" strike="noStrike" kern="1200" cap="none" spc="-1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t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ial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；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Do</a:t>
            </a:r>
            <a:r>
              <a:rPr kumimoji="0" lang="en-US" altLang="zh-CN" sz="1400" b="0" i="0" u="none" strike="noStrike" kern="1200" cap="none" spc="-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 </a:t>
            </a:r>
            <a:r>
              <a:rPr kumimoji="0" lang="en-US" altLang="zh-CN" sz="14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No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t Di</a:t>
            </a:r>
            <a:r>
              <a:rPr kumimoji="0" lang="en-US" altLang="zh-CN" sz="1400" b="0" i="0" u="none" strike="noStrike" kern="1200" cap="none" spc="-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tri</a:t>
            </a:r>
            <a:r>
              <a:rPr kumimoji="0" lang="en-US" altLang="zh-CN" sz="1400" b="0" i="0" u="none" strike="noStrike" kern="1200" cap="none" spc="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b</a:t>
            </a:r>
            <a:r>
              <a:rPr kumimoji="0" lang="en-US" altLang="zh-CN" sz="1400" b="0" i="0" u="none" strike="noStrike" kern="1200" cap="none" spc="-1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u</a:t>
            </a:r>
            <a:r>
              <a:rPr kumimoji="0" lang="en-US" altLang="zh-CN" sz="1400" b="0" i="0" u="none" strike="noStrike" kern="1200" cap="none" spc="-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t</a:t>
            </a:r>
            <a:r>
              <a:rPr kumimoji="0" lang="en-US" altLang="zh-CN" sz="140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/>
              </a:rPr>
              <a:t>e</a:t>
            </a:r>
          </a:p>
        </p:txBody>
      </p:sp>
      <p:pic>
        <p:nvPicPr>
          <p:cNvPr id="3" name="图片 2" descr="logo（注册标致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690" y="140970"/>
            <a:ext cx="861060" cy="861060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E411187-DB33-2F92-2C41-7B4573536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287419"/>
              </p:ext>
            </p:extLst>
          </p:nvPr>
        </p:nvGraphicFramePr>
        <p:xfrm>
          <a:off x="785464" y="817020"/>
          <a:ext cx="3810000" cy="3550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71275999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661938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924704460"/>
                    </a:ext>
                  </a:extLst>
                </a:gridCol>
              </a:tblGrid>
              <a:tr h="17526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板卡参数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95079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#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Field Name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Value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9583858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FileVersion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V2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663572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CardType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VA1V-16G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2866727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CardRevision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A04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71847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MfgVendor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FOXCONN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13444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P/N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PAV2XFSS2800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40205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S/N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FCA023F00166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0890437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MfgDate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20220315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971489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otsd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7538031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u="none" strike="noStrike">
                          <a:effectLst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err="1">
                          <a:effectLst/>
                        </a:rPr>
                        <a:t>vdmcu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3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8307132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u="none" strike="noStrike">
                          <a:effectLst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vemcu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</a:rPr>
                        <a:t>4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5843784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58607407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3522284"/>
                  </a:ext>
                </a:extLst>
              </a:tr>
              <a:tr h="17526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</a:rPr>
                        <a:t>系统参数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06669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#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Name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Value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7489165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CPU core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144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217569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OS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centos 7.9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8757448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OS bit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64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30974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kernel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4.14.228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37524845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</a:rPr>
                        <a:t>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gcc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</a:rPr>
                        <a:t>7.3.1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7591787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34C8CD0-77F5-D02C-9CAF-90EBABFF9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20314"/>
              </p:ext>
            </p:extLst>
          </p:nvPr>
        </p:nvGraphicFramePr>
        <p:xfrm>
          <a:off x="6149789" y="817020"/>
          <a:ext cx="3810001" cy="1973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7643">
                  <a:extLst>
                    <a:ext uri="{9D8B030D-6E8A-4147-A177-3AD203B41FA5}">
                      <a16:colId xmlns:a16="http://schemas.microsoft.com/office/drawing/2014/main" val="2259854392"/>
                    </a:ext>
                  </a:extLst>
                </a:gridCol>
                <a:gridCol w="1171179">
                  <a:extLst>
                    <a:ext uri="{9D8B030D-6E8A-4147-A177-3AD203B41FA5}">
                      <a16:colId xmlns:a16="http://schemas.microsoft.com/office/drawing/2014/main" val="1327852428"/>
                    </a:ext>
                  </a:extLst>
                </a:gridCol>
                <a:gridCol w="1171179">
                  <a:extLst>
                    <a:ext uri="{9D8B030D-6E8A-4147-A177-3AD203B41FA5}">
                      <a16:colId xmlns:a16="http://schemas.microsoft.com/office/drawing/2014/main" val="1720040348"/>
                    </a:ext>
                  </a:extLst>
                </a:gridCol>
              </a:tblGrid>
              <a:tr h="16764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对比</a:t>
                      </a:r>
                      <a:r>
                        <a:rPr lang="en-US" sz="1000" u="none" strike="noStrike" dirty="0" err="1">
                          <a:effectLst/>
                        </a:rPr>
                        <a:t>ffmpeg</a:t>
                      </a:r>
                      <a:r>
                        <a:rPr lang="zh-CN" altLang="en-US" sz="1000" u="none" strike="noStrike" dirty="0">
                          <a:effectLst/>
                        </a:rPr>
                        <a:t>和</a:t>
                      </a:r>
                      <a:r>
                        <a:rPr lang="en-US" sz="1000" u="none" strike="noStrike" dirty="0" err="1">
                          <a:effectLst/>
                        </a:rPr>
                        <a:t>lowlevel</a:t>
                      </a:r>
                      <a:r>
                        <a:rPr lang="zh-CN" altLang="en-US" sz="1000" u="none" strike="noStrike" dirty="0">
                          <a:effectLst/>
                        </a:rPr>
                        <a:t>的软硬解</a:t>
                      </a:r>
                      <a:r>
                        <a:rPr lang="en-US" sz="1000" u="none" strike="noStrike" dirty="0" err="1">
                          <a:effectLst/>
                        </a:rPr>
                        <a:t>bitmatch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lowlevel(</a:t>
                      </a:r>
                      <a:r>
                        <a:rPr lang="zh-CN" altLang="en-US" sz="1000" u="none" strike="noStrike">
                          <a:effectLst/>
                        </a:rPr>
                        <a:t>基于</a:t>
                      </a:r>
                      <a:r>
                        <a:rPr lang="en-US" sz="1000" u="none" strike="noStrike">
                          <a:effectLst/>
                        </a:rPr>
                        <a:t>ffmpeg)</a:t>
                      </a:r>
                      <a:r>
                        <a:rPr lang="zh-CN" altLang="en-US" sz="1000" u="none" strike="noStrike">
                          <a:effectLst/>
                        </a:rPr>
                        <a:t>对</a:t>
                      </a:r>
                      <a:r>
                        <a:rPr lang="en-US" sz="1000" u="none" strike="noStrike">
                          <a:effectLst/>
                        </a:rPr>
                        <a:t>Itu</a:t>
                      </a:r>
                      <a:r>
                        <a:rPr lang="zh-CN" altLang="en-US" sz="1000" u="none" strike="noStrike">
                          <a:effectLst/>
                        </a:rPr>
                        <a:t>流的软硬解</a:t>
                      </a:r>
                      <a:r>
                        <a:rPr lang="en-US" sz="1000" u="none" strike="noStrike">
                          <a:effectLst/>
                        </a:rPr>
                        <a:t>bitmatch</a:t>
                      </a:r>
                      <a:r>
                        <a:rPr lang="zh-CN" altLang="en-US" sz="1000" u="none" strike="noStrike">
                          <a:effectLst/>
                        </a:rPr>
                        <a:t>测试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904744"/>
                  </a:ext>
                </a:extLst>
              </a:tr>
              <a:tr h="17526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000" u="none" strike="noStrike" dirty="0">
                          <a:effectLst/>
                        </a:rPr>
                        <a:t>471</a:t>
                      </a:r>
                      <a:r>
                        <a:rPr lang="zh-CN" altLang="en-US" sz="1000" u="none" strike="noStrike" dirty="0">
                          <a:effectLst/>
                        </a:rPr>
                        <a:t>个</a:t>
                      </a:r>
                      <a:r>
                        <a:rPr lang="en-US" altLang="zh-CN" sz="1000" u="none" strike="noStrike" dirty="0" err="1">
                          <a:effectLst/>
                        </a:rPr>
                        <a:t>itu</a:t>
                      </a:r>
                      <a:r>
                        <a:rPr lang="zh-CN" altLang="en-US" sz="1000" u="none" strike="noStrike" dirty="0">
                          <a:effectLst/>
                        </a:rPr>
                        <a:t>流可解的部分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u="none" strike="noStrike">
                          <a:effectLst/>
                        </a:rPr>
                        <a:t>软解硬解</a:t>
                      </a:r>
                      <a:r>
                        <a:rPr lang="en-US" sz="1000" u="none" strike="noStrike">
                          <a:effectLst/>
                        </a:rPr>
                        <a:t>bitmatch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3585499"/>
                  </a:ext>
                </a:extLst>
              </a:tr>
              <a:tr h="1676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u="none" strike="noStrike">
                          <a:effectLst/>
                        </a:rPr>
                        <a:t>编码格式</a:t>
                      </a:r>
                      <a:r>
                        <a:rPr lang="en-US" sz="1000" u="none" strike="noStrike">
                          <a:effectLst/>
                        </a:rPr>
                        <a:t>h264/hevc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u="none" strike="noStrike">
                          <a:effectLst/>
                        </a:rPr>
                        <a:t>匹配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41384250"/>
                  </a:ext>
                </a:extLst>
              </a:tr>
              <a:tr h="1676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u="none" strike="noStrike" dirty="0">
                          <a:effectLst/>
                        </a:rPr>
                        <a:t>分辨率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00" u="none" strike="noStrike">
                          <a:effectLst/>
                        </a:rPr>
                        <a:t>匹配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9014458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1953544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0251340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git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branch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commit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4775684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PCIe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d2_3_v2_1_a1_3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6fd2f843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0137939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Runtime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rel_alpha_2_0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d64be54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2279332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vastai_video_sdk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develop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05a15407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0131608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8B77E20-F473-D379-C973-84B6D8FB5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390343"/>
              </p:ext>
            </p:extLst>
          </p:nvPr>
        </p:nvGraphicFramePr>
        <p:xfrm>
          <a:off x="6127751" y="3307819"/>
          <a:ext cx="3810001" cy="1002689"/>
        </p:xfrm>
        <a:graphic>
          <a:graphicData uri="http://schemas.openxmlformats.org/drawingml/2006/table">
            <a:tbl>
              <a:tblPr/>
              <a:tblGrid>
                <a:gridCol w="1467643">
                  <a:extLst>
                    <a:ext uri="{9D8B030D-6E8A-4147-A177-3AD203B41FA5}">
                      <a16:colId xmlns:a16="http://schemas.microsoft.com/office/drawing/2014/main" val="1343329449"/>
                    </a:ext>
                  </a:extLst>
                </a:gridCol>
                <a:gridCol w="1171179">
                  <a:extLst>
                    <a:ext uri="{9D8B030D-6E8A-4147-A177-3AD203B41FA5}">
                      <a16:colId xmlns:a16="http://schemas.microsoft.com/office/drawing/2014/main" val="1725271587"/>
                    </a:ext>
                  </a:extLst>
                </a:gridCol>
                <a:gridCol w="1171179">
                  <a:extLst>
                    <a:ext uri="{9D8B030D-6E8A-4147-A177-3AD203B41FA5}">
                      <a16:colId xmlns:a16="http://schemas.microsoft.com/office/drawing/2014/main" val="4218547799"/>
                    </a:ext>
                  </a:extLst>
                </a:gridCol>
              </a:tblGrid>
              <a:tr h="142580"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875593"/>
                  </a:ext>
                </a:extLst>
              </a:tr>
              <a:tr h="202589"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506863"/>
                  </a:ext>
                </a:extLst>
              </a:tr>
              <a:tr h="1425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git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branch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commit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650635"/>
                  </a:ext>
                </a:extLst>
              </a:tr>
              <a:tr h="1425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PCIe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d2_4_v2_1_a1_3_hv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1009b9e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017981"/>
                  </a:ext>
                </a:extLst>
              </a:tr>
              <a:tr h="1425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Runtime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rel_alpha_2_0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5f17e2b8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577267"/>
                  </a:ext>
                </a:extLst>
              </a:tr>
              <a:tr h="1425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Ffmpeg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n4.3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0ed8780d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20184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C7BFF82-569D-6CB9-5242-FD31B567C84D}"/>
              </a:ext>
            </a:extLst>
          </p:cNvPr>
          <p:cNvSpPr txBox="1"/>
          <p:nvPr/>
        </p:nvSpPr>
        <p:spPr>
          <a:xfrm>
            <a:off x="637540" y="4761631"/>
            <a:ext cx="695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所有图中的路数以整个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device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为单位，帧率以单个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channel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为单位</a:t>
            </a:r>
          </a:p>
        </p:txBody>
      </p:sp>
    </p:spTree>
    <p:extLst>
      <p:ext uri="{BB962C8B-B14F-4D97-AF65-F5344CB8AC3E}">
        <p14:creationId xmlns:p14="http://schemas.microsoft.com/office/powerpoint/2010/main" val="2346644841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0" y="208818"/>
            <a:ext cx="8858250" cy="429992"/>
            <a:chOff x="0" y="217708"/>
            <a:chExt cx="8858250" cy="429992"/>
          </a:xfrm>
        </p:grpSpPr>
        <p:sp>
          <p:nvSpPr>
            <p:cNvPr id="28" name="标题 2"/>
            <p:cNvSpPr txBox="1"/>
            <p:nvPr/>
          </p:nvSpPr>
          <p:spPr>
            <a:xfrm>
              <a:off x="637540" y="217708"/>
              <a:ext cx="8220710" cy="42608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2.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 编解码最大路数及板卡内存占用（单核）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0" y="221272"/>
              <a:ext cx="482600" cy="426428"/>
            </a:xfrm>
            <a:prstGeom prst="rect">
              <a:avLst/>
            </a:prstGeom>
            <a:solidFill>
              <a:srgbClr val="26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552450" y="221272"/>
              <a:ext cx="58539" cy="426428"/>
            </a:xfrm>
            <a:prstGeom prst="rect">
              <a:avLst/>
            </a:prstGeom>
            <a:solidFill>
              <a:srgbClr val="26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0" y="6466205"/>
            <a:ext cx="12192000" cy="440055"/>
          </a:xfrm>
          <a:prstGeom prst="rect">
            <a:avLst/>
          </a:prstGeom>
          <a:gradFill>
            <a:gsLst>
              <a:gs pos="53000">
                <a:srgbClr val="294E7B"/>
              </a:gs>
              <a:gs pos="0">
                <a:srgbClr val="132333"/>
              </a:gs>
              <a:gs pos="100000">
                <a:srgbClr val="13233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logo（注册标致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690" y="140970"/>
            <a:ext cx="861060" cy="861060"/>
          </a:xfrm>
          <a:prstGeom prst="rect">
            <a:avLst/>
          </a:prstGeom>
        </p:spPr>
      </p:pic>
      <p:pic>
        <p:nvPicPr>
          <p:cNvPr id="5" name="图片 4" descr="Project Path: C:\Users\bozhang\OneDrive - 瀚博半导体(上海)有限公司\文档\OriginLab\User Files\data\lowlevel-perf.opju&#10;PE Folder: /lowlevel-perf/Folder1/&#10;Short Name: MaxChannelsandMemUseDec">
            <a:extLst>
              <a:ext uri="{FF2B5EF4-FFF2-40B4-BE49-F238E27FC236}">
                <a16:creationId xmlns:a16="http://schemas.microsoft.com/office/drawing/2014/main" id="{F90F997B-67D3-4592-EF04-08C6F2DE0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2156" y="1076643"/>
            <a:ext cx="6198156" cy="475162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D4CD74-7DB7-A15D-462E-346FB9DF1FF1}"/>
              </a:ext>
            </a:extLst>
          </p:cNvPr>
          <p:cNvSpPr txBox="1"/>
          <p:nvPr/>
        </p:nvSpPr>
        <p:spPr>
          <a:xfrm>
            <a:off x="25203" y="5843011"/>
            <a:ext cx="4821118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解码：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SDK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内存占用低；大分辨率的解码帧率更高</a:t>
            </a:r>
          </a:p>
        </p:txBody>
      </p:sp>
      <p:pic>
        <p:nvPicPr>
          <p:cNvPr id="7" name="图片 6" descr="Project Path: C:\Users\bozhang\OneDrive - 瀚博半导体(上海)有限公司\文档\OriginLab\User Files\data\lowlevel-perf.opju&#10;PE Folder: /lowlevel-perf/Folder1/&#10;Short Name: MaxChannelsandMemUseEnc">
            <a:extLst>
              <a:ext uri="{FF2B5EF4-FFF2-40B4-BE49-F238E27FC236}">
                <a16:creationId xmlns:a16="http://schemas.microsoft.com/office/drawing/2014/main" id="{5E6EB899-0D35-38B4-E92B-E4854F215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364" y="1038446"/>
            <a:ext cx="6193772" cy="475162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910680E-936D-7799-EC34-7647C439D1C3}"/>
              </a:ext>
            </a:extLst>
          </p:cNvPr>
          <p:cNvSpPr txBox="1"/>
          <p:nvPr/>
        </p:nvSpPr>
        <p:spPr>
          <a:xfrm>
            <a:off x="5448300" y="5819554"/>
            <a:ext cx="65217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编码：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SDK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内存占用更低；不同分辨率下，编码帧率二者相似</a:t>
            </a: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4D846681-C175-59BF-24FA-B4A685D023CB}"/>
              </a:ext>
            </a:extLst>
          </p:cNvPr>
          <p:cNvSpPr/>
          <p:nvPr/>
        </p:nvSpPr>
        <p:spPr>
          <a:xfrm>
            <a:off x="9657689" y="2194560"/>
            <a:ext cx="2373889" cy="495300"/>
          </a:xfrm>
          <a:prstGeom prst="wedgeRoundRectCallout">
            <a:avLst>
              <a:gd name="adj1" fmla="val -37877"/>
              <a:gd name="adj2" fmla="val 119140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176x144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分辨率的最大路数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bug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已由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@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向科燏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fixed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" name="图形 13" descr="徽章勾号 1 纯色填充">
            <a:extLst>
              <a:ext uri="{FF2B5EF4-FFF2-40B4-BE49-F238E27FC236}">
                <a16:creationId xmlns:a16="http://schemas.microsoft.com/office/drawing/2014/main" id="{55D66B30-DF6A-1023-96BA-E9ABFC07B1B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55175" y="5819554"/>
            <a:ext cx="385440" cy="385440"/>
          </a:xfrm>
          <a:prstGeom prst="rect">
            <a:avLst/>
          </a:prstGeom>
        </p:spPr>
      </p:pic>
      <p:pic>
        <p:nvPicPr>
          <p:cNvPr id="15" name="图形 14" descr="徽章勾号 1 纯色填充">
            <a:extLst>
              <a:ext uri="{FF2B5EF4-FFF2-40B4-BE49-F238E27FC236}">
                <a16:creationId xmlns:a16="http://schemas.microsoft.com/office/drawing/2014/main" id="{BB772242-BDB7-0C5A-C7A8-41F2D7DBB0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26780" y="5796125"/>
            <a:ext cx="385440" cy="38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7286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0" y="208818"/>
            <a:ext cx="8858250" cy="429992"/>
            <a:chOff x="0" y="217708"/>
            <a:chExt cx="8858250" cy="429992"/>
          </a:xfrm>
        </p:grpSpPr>
        <p:sp>
          <p:nvSpPr>
            <p:cNvPr id="28" name="标题 2"/>
            <p:cNvSpPr txBox="1"/>
            <p:nvPr/>
          </p:nvSpPr>
          <p:spPr>
            <a:xfrm>
              <a:off x="637540" y="217708"/>
              <a:ext cx="8220710" cy="42608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3.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解码性能（</a:t>
              </a:r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100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路和</a:t>
              </a:r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2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路）及板卡内存占用（单核）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0" y="221272"/>
              <a:ext cx="482600" cy="426428"/>
            </a:xfrm>
            <a:prstGeom prst="rect">
              <a:avLst/>
            </a:prstGeom>
            <a:solidFill>
              <a:srgbClr val="26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552450" y="221272"/>
              <a:ext cx="58539" cy="426428"/>
            </a:xfrm>
            <a:prstGeom prst="rect">
              <a:avLst/>
            </a:prstGeom>
            <a:solidFill>
              <a:srgbClr val="26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0" y="6466205"/>
            <a:ext cx="12192000" cy="440055"/>
          </a:xfrm>
          <a:prstGeom prst="rect">
            <a:avLst/>
          </a:prstGeom>
          <a:gradFill>
            <a:gsLst>
              <a:gs pos="53000">
                <a:srgbClr val="294E7B"/>
              </a:gs>
              <a:gs pos="0">
                <a:srgbClr val="132333"/>
              </a:gs>
              <a:gs pos="100000">
                <a:srgbClr val="13233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logo（注册标致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690" y="140970"/>
            <a:ext cx="861060" cy="861060"/>
          </a:xfrm>
          <a:prstGeom prst="rect">
            <a:avLst/>
          </a:prstGeom>
        </p:spPr>
      </p:pic>
      <p:pic>
        <p:nvPicPr>
          <p:cNvPr id="9" name="图片 8" descr="Project Path: C:\Users\bozhang\OneDrive - 瀚博半导体(上海)有限公司\文档\OriginLab\User Files\data\lowlevel-perf.opju&#10;PE Folder: /lowlevel-perf/Folder1/&#10;Short Name: Dec-Perf-100">
            <a:extLst>
              <a:ext uri="{FF2B5EF4-FFF2-40B4-BE49-F238E27FC236}">
                <a16:creationId xmlns:a16="http://schemas.microsoft.com/office/drawing/2014/main" id="{CF4F727F-20C5-1B69-33D1-E584B64B7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27" y="634903"/>
            <a:ext cx="6299429" cy="482613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814E04B-71E0-2ECE-225B-D9026E033AA0}"/>
              </a:ext>
            </a:extLst>
          </p:cNvPr>
          <p:cNvSpPr txBox="1"/>
          <p:nvPr/>
        </p:nvSpPr>
        <p:spPr>
          <a:xfrm>
            <a:off x="134228" y="5464946"/>
            <a:ext cx="5627511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路解码：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SDK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帧率更高，内存占用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SDK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FFmpeg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相近</a:t>
            </a:r>
          </a:p>
        </p:txBody>
      </p:sp>
      <p:pic>
        <p:nvPicPr>
          <p:cNvPr id="14" name="图片 13" descr="Project Path: C:\Users\bozhang\OneDrive - 瀚博半导体(上海)有限公司\文档\OriginLab\User Files\data\lowlevel-perf.opju&#10;PE Folder: /lowlevel-perf/Folder1/&#10;Short Name: Dec-perf-2">
            <a:extLst>
              <a:ext uri="{FF2B5EF4-FFF2-40B4-BE49-F238E27FC236}">
                <a16:creationId xmlns:a16="http://schemas.microsoft.com/office/drawing/2014/main" id="{220307FA-B71C-32A5-6930-47EF95653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8350" y="1280456"/>
            <a:ext cx="5355840" cy="410323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D2A4210-3E2F-6048-A706-B86ED3D66D0F}"/>
              </a:ext>
            </a:extLst>
          </p:cNvPr>
          <p:cNvSpPr txBox="1"/>
          <p:nvPr/>
        </p:nvSpPr>
        <p:spPr>
          <a:xfrm>
            <a:off x="5761739" y="5464946"/>
            <a:ext cx="535584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路解码：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SDK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帧率偏低，与</a:t>
            </a:r>
            <a:r>
              <a:rPr lang="en-US" altLang="zh-CN" sz="16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FFmpeg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的优化有关</a:t>
            </a:r>
          </a:p>
        </p:txBody>
      </p:sp>
      <p:sp>
        <p:nvSpPr>
          <p:cNvPr id="17" name="图形 15" descr="徽章勾号 1 纯色填充">
            <a:extLst>
              <a:ext uri="{FF2B5EF4-FFF2-40B4-BE49-F238E27FC236}">
                <a16:creationId xmlns:a16="http://schemas.microsoft.com/office/drawing/2014/main" id="{4073B6F6-7131-3B72-45D1-AFE0E2DC4DF4}"/>
              </a:ext>
            </a:extLst>
          </p:cNvPr>
          <p:cNvSpPr/>
          <p:nvPr/>
        </p:nvSpPr>
        <p:spPr>
          <a:xfrm>
            <a:off x="5311236" y="5481372"/>
            <a:ext cx="304971" cy="304971"/>
          </a:xfrm>
          <a:custGeom>
            <a:avLst/>
            <a:gdLst>
              <a:gd name="connsiteX0" fmla="*/ 152486 w 304971"/>
              <a:gd name="connsiteY0" fmla="*/ 0 h 304971"/>
              <a:gd name="connsiteX1" fmla="*/ 0 w 304971"/>
              <a:gd name="connsiteY1" fmla="*/ 152486 h 304971"/>
              <a:gd name="connsiteX2" fmla="*/ 152486 w 304971"/>
              <a:gd name="connsiteY2" fmla="*/ 304971 h 304971"/>
              <a:gd name="connsiteX3" fmla="*/ 304971 w 304971"/>
              <a:gd name="connsiteY3" fmla="*/ 152486 h 304971"/>
              <a:gd name="connsiteX4" fmla="*/ 304971 w 304971"/>
              <a:gd name="connsiteY4" fmla="*/ 152474 h 304971"/>
              <a:gd name="connsiteX5" fmla="*/ 152602 w 304971"/>
              <a:gd name="connsiteY5" fmla="*/ 0 h 304971"/>
              <a:gd name="connsiteX6" fmla="*/ 152486 w 304971"/>
              <a:gd name="connsiteY6" fmla="*/ 0 h 304971"/>
              <a:gd name="connsiteX7" fmla="*/ 189424 w 304971"/>
              <a:gd name="connsiteY7" fmla="*/ 159769 h 304971"/>
              <a:gd name="connsiteX8" fmla="*/ 122373 w 304971"/>
              <a:gd name="connsiteY8" fmla="*/ 226888 h 304971"/>
              <a:gd name="connsiteX9" fmla="*/ 64919 w 304971"/>
              <a:gd name="connsiteY9" fmla="*/ 169433 h 304971"/>
              <a:gd name="connsiteX10" fmla="*/ 84114 w 304971"/>
              <a:gd name="connsiteY10" fmla="*/ 150237 h 304971"/>
              <a:gd name="connsiteX11" fmla="*/ 122373 w 304971"/>
              <a:gd name="connsiteY11" fmla="*/ 188496 h 304971"/>
              <a:gd name="connsiteX12" fmla="*/ 177780 w 304971"/>
              <a:gd name="connsiteY12" fmla="*/ 132371 h 304971"/>
              <a:gd name="connsiteX13" fmla="*/ 225322 w 304971"/>
              <a:gd name="connsiteY13" fmla="*/ 85431 h 304971"/>
              <a:gd name="connsiteX14" fmla="*/ 227052 w 304971"/>
              <a:gd name="connsiteY14" fmla="*/ 83825 h 304971"/>
              <a:gd name="connsiteX15" fmla="*/ 228658 w 304971"/>
              <a:gd name="connsiteY15" fmla="*/ 82091 h 304971"/>
              <a:gd name="connsiteX16" fmla="*/ 248123 w 304971"/>
              <a:gd name="connsiteY16" fmla="*/ 101286 h 304971"/>
              <a:gd name="connsiteX17" fmla="*/ 189420 w 304971"/>
              <a:gd name="connsiteY17" fmla="*/ 159757 h 304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4971" h="304971">
                <a:moveTo>
                  <a:pt x="152486" y="0"/>
                </a:moveTo>
                <a:cubicBezTo>
                  <a:pt x="68270" y="0"/>
                  <a:pt x="0" y="68270"/>
                  <a:pt x="0" y="152486"/>
                </a:cubicBezTo>
                <a:cubicBezTo>
                  <a:pt x="0" y="236701"/>
                  <a:pt x="68270" y="304971"/>
                  <a:pt x="152486" y="304971"/>
                </a:cubicBezTo>
                <a:cubicBezTo>
                  <a:pt x="236701" y="304971"/>
                  <a:pt x="304971" y="236701"/>
                  <a:pt x="304971" y="152486"/>
                </a:cubicBezTo>
                <a:cubicBezTo>
                  <a:pt x="304971" y="152482"/>
                  <a:pt x="304971" y="152478"/>
                  <a:pt x="304971" y="152474"/>
                </a:cubicBezTo>
                <a:cubicBezTo>
                  <a:pt x="305000" y="68294"/>
                  <a:pt x="236782" y="29"/>
                  <a:pt x="152602" y="0"/>
                </a:cubicBezTo>
                <a:cubicBezTo>
                  <a:pt x="152563" y="0"/>
                  <a:pt x="152525" y="0"/>
                  <a:pt x="152486" y="0"/>
                </a:cubicBezTo>
                <a:close/>
                <a:moveTo>
                  <a:pt x="189424" y="159769"/>
                </a:moveTo>
                <a:cubicBezTo>
                  <a:pt x="167207" y="181945"/>
                  <a:pt x="144857" y="204318"/>
                  <a:pt x="122373" y="226888"/>
                </a:cubicBezTo>
                <a:cubicBezTo>
                  <a:pt x="103267" y="207691"/>
                  <a:pt x="84115" y="188539"/>
                  <a:pt x="64919" y="169433"/>
                </a:cubicBezTo>
                <a:lnTo>
                  <a:pt x="84114" y="150237"/>
                </a:lnTo>
                <a:lnTo>
                  <a:pt x="122373" y="188496"/>
                </a:lnTo>
                <a:cubicBezTo>
                  <a:pt x="140947" y="169655"/>
                  <a:pt x="159416" y="150947"/>
                  <a:pt x="177780" y="132371"/>
                </a:cubicBezTo>
                <a:cubicBezTo>
                  <a:pt x="196133" y="113797"/>
                  <a:pt x="206287" y="103828"/>
                  <a:pt x="225322" y="85431"/>
                </a:cubicBezTo>
                <a:cubicBezTo>
                  <a:pt x="225856" y="84897"/>
                  <a:pt x="226430" y="84367"/>
                  <a:pt x="227052" y="83825"/>
                </a:cubicBezTo>
                <a:cubicBezTo>
                  <a:pt x="227655" y="83314"/>
                  <a:pt x="228195" y="82731"/>
                  <a:pt x="228658" y="82091"/>
                </a:cubicBezTo>
                <a:lnTo>
                  <a:pt x="248123" y="101286"/>
                </a:lnTo>
                <a:cubicBezTo>
                  <a:pt x="225515" y="123770"/>
                  <a:pt x="211639" y="137582"/>
                  <a:pt x="189420" y="159757"/>
                </a:cubicBezTo>
                <a:close/>
              </a:path>
            </a:pathLst>
          </a:custGeom>
          <a:solidFill>
            <a:srgbClr val="000000"/>
          </a:solidFill>
          <a:ln w="39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21" name="图形 20" descr="铃 纯色填充">
            <a:extLst>
              <a:ext uri="{FF2B5EF4-FFF2-40B4-BE49-F238E27FC236}">
                <a16:creationId xmlns:a16="http://schemas.microsoft.com/office/drawing/2014/main" id="{3EEC5D0B-5C5F-F236-478B-BF2A44EE181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06528" y="5481371"/>
            <a:ext cx="328863" cy="32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38679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0" y="208818"/>
            <a:ext cx="8858250" cy="793212"/>
            <a:chOff x="0" y="217708"/>
            <a:chExt cx="8858250" cy="793212"/>
          </a:xfrm>
        </p:grpSpPr>
        <p:sp>
          <p:nvSpPr>
            <p:cNvPr id="28" name="标题 2"/>
            <p:cNvSpPr txBox="1"/>
            <p:nvPr/>
          </p:nvSpPr>
          <p:spPr>
            <a:xfrm>
              <a:off x="637540" y="217708"/>
              <a:ext cx="8220710" cy="793212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4.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编码性能（</a:t>
              </a:r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72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路和</a:t>
              </a:r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2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路）及板卡内存占用（单核）</a:t>
              </a:r>
              <a:endParaRPr lang="en-US" altLang="zh-CN" sz="2800" dirty="0">
                <a:gradFill>
                  <a:gsLst>
                    <a:gs pos="53000">
                      <a:srgbClr val="294E7B"/>
                    </a:gs>
                    <a:gs pos="0">
                      <a:srgbClr val="132333"/>
                    </a:gs>
                    <a:gs pos="100000">
                      <a:srgbClr val="132333"/>
                    </a:gs>
                  </a:gsLst>
                  <a:lin ang="108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Kartika" panose="02020503030404060203" pitchFamily="18" charset="0"/>
                <a:sym typeface="+mn-ea"/>
              </a:endParaRPr>
            </a:p>
            <a:p>
              <a:r>
                <a:rPr lang="en-US" altLang="zh-CN" sz="1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4k 8k</a:t>
              </a:r>
              <a:r>
                <a:rPr lang="zh-CN" altLang="en-US" sz="1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最大路数分别为</a:t>
              </a:r>
              <a:r>
                <a:rPr lang="en-US" altLang="zh-CN" sz="1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14</a:t>
              </a:r>
              <a:r>
                <a:rPr lang="zh-CN" altLang="en-US" sz="1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路和</a:t>
              </a:r>
              <a:r>
                <a:rPr lang="en-US" altLang="zh-CN" sz="1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48</a:t>
              </a:r>
              <a:r>
                <a:rPr lang="zh-CN" altLang="en-US" sz="1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路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0" y="221272"/>
              <a:ext cx="482600" cy="426428"/>
            </a:xfrm>
            <a:prstGeom prst="rect">
              <a:avLst/>
            </a:prstGeom>
            <a:solidFill>
              <a:srgbClr val="26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552450" y="221272"/>
              <a:ext cx="58539" cy="426428"/>
            </a:xfrm>
            <a:prstGeom prst="rect">
              <a:avLst/>
            </a:prstGeom>
            <a:solidFill>
              <a:srgbClr val="26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0" y="6466205"/>
            <a:ext cx="12192000" cy="440055"/>
          </a:xfrm>
          <a:prstGeom prst="rect">
            <a:avLst/>
          </a:prstGeom>
          <a:gradFill>
            <a:gsLst>
              <a:gs pos="53000">
                <a:srgbClr val="294E7B"/>
              </a:gs>
              <a:gs pos="0">
                <a:srgbClr val="132333"/>
              </a:gs>
              <a:gs pos="100000">
                <a:srgbClr val="13233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logo（注册标致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690" y="140970"/>
            <a:ext cx="861060" cy="861060"/>
          </a:xfrm>
          <a:prstGeom prst="rect">
            <a:avLst/>
          </a:prstGeom>
        </p:spPr>
      </p:pic>
      <p:pic>
        <p:nvPicPr>
          <p:cNvPr id="4" name="图片 3" descr="Project Path: C:\Users\bozhang\OneDrive - 瀚博半导体(上海)有限公司\文档\OriginLab\User Files\data\lowlevel-perf.opju&#10;PE Folder: /lowlevel-perf/Folder1/&#10;Short Name: Encode-FPS-multicha">
            <a:extLst>
              <a:ext uri="{FF2B5EF4-FFF2-40B4-BE49-F238E27FC236}">
                <a16:creationId xmlns:a16="http://schemas.microsoft.com/office/drawing/2014/main" id="{2D8AF89D-53E0-45AB-C34A-18D2D8C3E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66" y="896430"/>
            <a:ext cx="5671118" cy="434477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263001D-D45E-4F72-6BF1-6B7AFC5C737A}"/>
              </a:ext>
            </a:extLst>
          </p:cNvPr>
          <p:cNvSpPr txBox="1"/>
          <p:nvPr/>
        </p:nvSpPr>
        <p:spPr>
          <a:xfrm>
            <a:off x="316623" y="5321725"/>
            <a:ext cx="5346641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dirty="0"/>
              <a:t>多路编码：帧率相近；</a:t>
            </a:r>
            <a:r>
              <a:rPr lang="en-US" altLang="zh-CN" dirty="0"/>
              <a:t>SDK</a:t>
            </a:r>
            <a:r>
              <a:rPr lang="zh-CN" altLang="en-US" dirty="0"/>
              <a:t>的内存占用率也较低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2CCF90-0AFB-F7E8-DF33-1FEC8B4BDDFE}"/>
              </a:ext>
            </a:extLst>
          </p:cNvPr>
          <p:cNvSpPr txBox="1"/>
          <p:nvPr/>
        </p:nvSpPr>
        <p:spPr>
          <a:xfrm>
            <a:off x="6375392" y="5313671"/>
            <a:ext cx="4963041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路编码：</a:t>
            </a:r>
            <a:r>
              <a:rPr lang="en-US" altLang="zh-CN" dirty="0"/>
              <a:t>SDK</a:t>
            </a:r>
            <a:r>
              <a:rPr lang="zh-CN" altLang="en-US" dirty="0"/>
              <a:t>帧率更高</a:t>
            </a:r>
          </a:p>
        </p:txBody>
      </p:sp>
      <p:pic>
        <p:nvPicPr>
          <p:cNvPr id="11" name="图形 10" descr="徽章勾号 1 纯色填充">
            <a:extLst>
              <a:ext uri="{FF2B5EF4-FFF2-40B4-BE49-F238E27FC236}">
                <a16:creationId xmlns:a16="http://schemas.microsoft.com/office/drawing/2014/main" id="{3CF04B54-7F6A-C018-5CAA-FCD30405F7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15014" y="5313638"/>
            <a:ext cx="385440" cy="385440"/>
          </a:xfrm>
          <a:prstGeom prst="rect">
            <a:avLst/>
          </a:prstGeom>
        </p:spPr>
      </p:pic>
      <p:pic>
        <p:nvPicPr>
          <p:cNvPr id="12" name="图形 11" descr="徽章勾号 1 纯色填充">
            <a:extLst>
              <a:ext uri="{FF2B5EF4-FFF2-40B4-BE49-F238E27FC236}">
                <a16:creationId xmlns:a16="http://schemas.microsoft.com/office/drawing/2014/main" id="{E0BF481E-4E9C-D27A-BB28-727A7F6900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6702" y="5321725"/>
            <a:ext cx="385440" cy="385440"/>
          </a:xfrm>
          <a:prstGeom prst="rect">
            <a:avLst/>
          </a:prstGeom>
        </p:spPr>
      </p:pic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B55F9EF2-943A-8353-4F2C-7F42D8F1DE36}"/>
              </a:ext>
            </a:extLst>
          </p:cNvPr>
          <p:cNvSpPr/>
          <p:nvPr/>
        </p:nvSpPr>
        <p:spPr>
          <a:xfrm>
            <a:off x="3955723" y="2109245"/>
            <a:ext cx="2369403" cy="495300"/>
          </a:xfrm>
          <a:prstGeom prst="wedgeRoundRectCallout">
            <a:avLst>
              <a:gd name="adj1" fmla="val -37877"/>
              <a:gd name="adj2" fmla="val 119140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176x144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分辨率的最大路数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bug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已由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@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向科燏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fixed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 descr="Project Path: C:\Users\bozhang\OneDrive - 瀚博半导体(上海)有限公司\文档\OriginLab\User Files\data\lowlevel-perf.opju&#10;PE Folder: /lowlevel-perf/Folder1/&#10;Short Name: Encode-FPS-singlecha">
            <a:extLst>
              <a:ext uri="{FF2B5EF4-FFF2-40B4-BE49-F238E27FC236}">
                <a16:creationId xmlns:a16="http://schemas.microsoft.com/office/drawing/2014/main" id="{E1AB07A5-B0D5-739C-98F4-BD82711A1C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1984" y="1351913"/>
            <a:ext cx="5146269" cy="396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7195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0" y="208818"/>
            <a:ext cx="8858250" cy="429992"/>
            <a:chOff x="0" y="217708"/>
            <a:chExt cx="8858250" cy="429992"/>
          </a:xfrm>
        </p:grpSpPr>
        <p:sp>
          <p:nvSpPr>
            <p:cNvPr id="28" name="标题 2"/>
            <p:cNvSpPr txBox="1"/>
            <p:nvPr/>
          </p:nvSpPr>
          <p:spPr>
            <a:xfrm>
              <a:off x="637540" y="217708"/>
              <a:ext cx="8220710" cy="42608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5. 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解码性能（</a:t>
              </a:r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6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路和</a:t>
              </a:r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2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路）及板卡内存占用（多核）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0" y="221272"/>
              <a:ext cx="482600" cy="426428"/>
            </a:xfrm>
            <a:prstGeom prst="rect">
              <a:avLst/>
            </a:prstGeom>
            <a:solidFill>
              <a:srgbClr val="26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552450" y="221272"/>
              <a:ext cx="58539" cy="426428"/>
            </a:xfrm>
            <a:prstGeom prst="rect">
              <a:avLst/>
            </a:prstGeom>
            <a:solidFill>
              <a:srgbClr val="26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0" y="6466205"/>
            <a:ext cx="12192000" cy="440055"/>
          </a:xfrm>
          <a:prstGeom prst="rect">
            <a:avLst/>
          </a:prstGeom>
          <a:gradFill>
            <a:gsLst>
              <a:gs pos="53000">
                <a:srgbClr val="294E7B"/>
              </a:gs>
              <a:gs pos="0">
                <a:srgbClr val="132333"/>
              </a:gs>
              <a:gs pos="100000">
                <a:srgbClr val="13233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logo（注册标致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690" y="140970"/>
            <a:ext cx="861060" cy="8610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6D8440F-DD3A-FFF8-94DF-02974BAB5831}"/>
              </a:ext>
            </a:extLst>
          </p:cNvPr>
          <p:cNvSpPr txBox="1"/>
          <p:nvPr/>
        </p:nvSpPr>
        <p:spPr>
          <a:xfrm>
            <a:off x="254573" y="5723742"/>
            <a:ext cx="53213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dirty="0"/>
              <a:t>多核</a:t>
            </a:r>
            <a:r>
              <a:rPr lang="en-US" altLang="zh-CN" dirty="0"/>
              <a:t>6</a:t>
            </a:r>
            <a:r>
              <a:rPr lang="zh-CN" altLang="en-US" dirty="0"/>
              <a:t>路解码：帧率相近，内存占用相近</a:t>
            </a:r>
          </a:p>
        </p:txBody>
      </p:sp>
      <p:pic>
        <p:nvPicPr>
          <p:cNvPr id="6" name="图片 5" descr="Project Path: C:\Users\bozhang\OneDrive - 瀚博半导体(上海)有限公司\文档\OriginLab\User Files\data\lowlevel-perf-multicore.opju&#10;PE Folder: /lowlevel-perf-multicore/Folder1/&#10;Short Name: multicore-FPS-Dec-2">
            <a:extLst>
              <a:ext uri="{FF2B5EF4-FFF2-40B4-BE49-F238E27FC236}">
                <a16:creationId xmlns:a16="http://schemas.microsoft.com/office/drawing/2014/main" id="{8CE0AB1C-6E66-8EBE-4B3B-A9DAF1355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01921"/>
            <a:ext cx="5590674" cy="428314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2CF2DDB-63C9-02E4-FFC7-433B486DCF44}"/>
              </a:ext>
            </a:extLst>
          </p:cNvPr>
          <p:cNvSpPr txBox="1"/>
          <p:nvPr/>
        </p:nvSpPr>
        <p:spPr>
          <a:xfrm>
            <a:off x="6343799" y="5722857"/>
            <a:ext cx="5498951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dirty="0"/>
              <a:t>多核</a:t>
            </a:r>
            <a:r>
              <a:rPr lang="en-US" altLang="zh-CN" dirty="0"/>
              <a:t>2</a:t>
            </a:r>
            <a:r>
              <a:rPr lang="zh-CN" altLang="en-US" dirty="0"/>
              <a:t>路解码：帧率相近</a:t>
            </a:r>
          </a:p>
        </p:txBody>
      </p:sp>
      <p:pic>
        <p:nvPicPr>
          <p:cNvPr id="8" name="图形 7" descr="徽章勾号 1 纯色填充">
            <a:extLst>
              <a:ext uri="{FF2B5EF4-FFF2-40B4-BE49-F238E27FC236}">
                <a16:creationId xmlns:a16="http://schemas.microsoft.com/office/drawing/2014/main" id="{6FC28F98-3270-8563-4330-1A5310887C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2455" y="5715688"/>
            <a:ext cx="385440" cy="385440"/>
          </a:xfrm>
          <a:prstGeom prst="rect">
            <a:avLst/>
          </a:prstGeom>
        </p:spPr>
      </p:pic>
      <p:pic>
        <p:nvPicPr>
          <p:cNvPr id="11" name="图形 10" descr="徽章勾号 1 纯色填充">
            <a:extLst>
              <a:ext uri="{FF2B5EF4-FFF2-40B4-BE49-F238E27FC236}">
                <a16:creationId xmlns:a16="http://schemas.microsoft.com/office/drawing/2014/main" id="{988B9FA0-469C-E616-5578-29D92FBC84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0554" y="5714803"/>
            <a:ext cx="385440" cy="385440"/>
          </a:xfrm>
          <a:prstGeom prst="rect">
            <a:avLst/>
          </a:prstGeom>
        </p:spPr>
      </p:pic>
      <p:pic>
        <p:nvPicPr>
          <p:cNvPr id="12" name="图片 11" descr="Project Path: C:\Users\bozhang\OneDrive - 瀚博半导体(上海)有限公司\文档\OriginLab\User Files\data\lowlevel-perf-multicore.opju&#10;PE Folder: /lowlevel-perf-multicore/Folder1/&#10;Short Name: multicore-FPS-Dec-6cha">
            <a:extLst>
              <a:ext uri="{FF2B5EF4-FFF2-40B4-BE49-F238E27FC236}">
                <a16:creationId xmlns:a16="http://schemas.microsoft.com/office/drawing/2014/main" id="{72FB9B4A-567B-0247-FB28-25339FE346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758" y="986632"/>
            <a:ext cx="6122084" cy="469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584942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0" y="208818"/>
            <a:ext cx="8858250" cy="429992"/>
            <a:chOff x="0" y="217708"/>
            <a:chExt cx="8858250" cy="429992"/>
          </a:xfrm>
        </p:grpSpPr>
        <p:sp>
          <p:nvSpPr>
            <p:cNvPr id="28" name="标题 2"/>
            <p:cNvSpPr txBox="1"/>
            <p:nvPr/>
          </p:nvSpPr>
          <p:spPr>
            <a:xfrm>
              <a:off x="637540" y="217708"/>
              <a:ext cx="8220710" cy="42608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6. 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编码性能（</a:t>
              </a:r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8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路和</a:t>
              </a:r>
              <a:r>
                <a:rPr lang="en-US" altLang="zh-CN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2</a:t>
              </a:r>
              <a:r>
                <a:rPr lang="zh-CN" altLang="en-US" sz="2800" dirty="0">
                  <a:gradFill>
                    <a:gsLst>
                      <a:gs pos="53000">
                        <a:srgbClr val="294E7B"/>
                      </a:gs>
                      <a:gs pos="0">
                        <a:srgbClr val="132333"/>
                      </a:gs>
                      <a:gs pos="100000">
                        <a:srgbClr val="132333"/>
                      </a:gs>
                    </a:gsLst>
                    <a:lin ang="1080000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Kartika" panose="02020503030404060203" pitchFamily="18" charset="0"/>
                  <a:sym typeface="+mn-ea"/>
                </a:rPr>
                <a:t>路）及板卡内存占用（多核）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0" y="221272"/>
              <a:ext cx="482600" cy="426428"/>
            </a:xfrm>
            <a:prstGeom prst="rect">
              <a:avLst/>
            </a:prstGeom>
            <a:solidFill>
              <a:srgbClr val="26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552450" y="221272"/>
              <a:ext cx="58539" cy="426428"/>
            </a:xfrm>
            <a:prstGeom prst="rect">
              <a:avLst/>
            </a:prstGeom>
            <a:solidFill>
              <a:srgbClr val="264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0" y="6466205"/>
            <a:ext cx="12192000" cy="440055"/>
          </a:xfrm>
          <a:prstGeom prst="rect">
            <a:avLst/>
          </a:prstGeom>
          <a:gradFill>
            <a:gsLst>
              <a:gs pos="53000">
                <a:srgbClr val="294E7B"/>
              </a:gs>
              <a:gs pos="0">
                <a:srgbClr val="132333"/>
              </a:gs>
              <a:gs pos="100000">
                <a:srgbClr val="13233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logo（注册标致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690" y="140970"/>
            <a:ext cx="861060" cy="8610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10A6CCD-CDC2-5E7A-742B-9880C1BA7147}"/>
              </a:ext>
            </a:extLst>
          </p:cNvPr>
          <p:cNvSpPr txBox="1"/>
          <p:nvPr/>
        </p:nvSpPr>
        <p:spPr>
          <a:xfrm>
            <a:off x="157067" y="5610787"/>
            <a:ext cx="5637002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dirty="0"/>
              <a:t>多核</a:t>
            </a:r>
            <a:r>
              <a:rPr lang="en-US" altLang="zh-CN" dirty="0"/>
              <a:t>8</a:t>
            </a:r>
            <a:r>
              <a:rPr lang="zh-CN" altLang="en-US" dirty="0"/>
              <a:t>路编码：帧率相近，</a:t>
            </a:r>
            <a:r>
              <a:rPr lang="en-US" altLang="zh-CN" dirty="0"/>
              <a:t>SDK</a:t>
            </a:r>
            <a:r>
              <a:rPr lang="zh-CN" altLang="en-US" dirty="0"/>
              <a:t>内存占用更低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B45BC7-47CE-F9B0-806E-20AB94E9FA0B}"/>
              </a:ext>
            </a:extLst>
          </p:cNvPr>
          <p:cNvSpPr txBox="1"/>
          <p:nvPr/>
        </p:nvSpPr>
        <p:spPr>
          <a:xfrm>
            <a:off x="5959811" y="5606011"/>
            <a:ext cx="7503459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dirty="0"/>
              <a:t>多核</a:t>
            </a:r>
            <a:r>
              <a:rPr lang="en-US" altLang="zh-CN" dirty="0"/>
              <a:t>2</a:t>
            </a:r>
            <a:r>
              <a:rPr lang="zh-CN" altLang="en-US" dirty="0"/>
              <a:t>路编码：</a:t>
            </a:r>
            <a:r>
              <a:rPr lang="en-US" altLang="zh-CN" dirty="0"/>
              <a:t>SDK</a:t>
            </a:r>
            <a:r>
              <a:rPr lang="zh-CN" altLang="en-US" dirty="0"/>
              <a:t>帧率稍微更高</a:t>
            </a:r>
          </a:p>
        </p:txBody>
      </p:sp>
      <p:pic>
        <p:nvPicPr>
          <p:cNvPr id="8" name="图片 7" descr="Project Path: C:\Users\bozhang\OneDrive - 瀚博半导体(上海)有限公司\文档\OriginLab\User Files\data\lowlevel-perf-multicore.opju&#10;PE Folder: /lowlevel-perf-multicore/Folder1/&#10;Short Name: multicore-FPS-Enc-2cha">
            <a:extLst>
              <a:ext uri="{FF2B5EF4-FFF2-40B4-BE49-F238E27FC236}">
                <a16:creationId xmlns:a16="http://schemas.microsoft.com/office/drawing/2014/main" id="{82C8CD58-6D19-294A-82B8-00AA0DC8D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140" y="1231078"/>
            <a:ext cx="5803601" cy="4446270"/>
          </a:xfrm>
          <a:prstGeom prst="rect">
            <a:avLst/>
          </a:prstGeom>
        </p:spPr>
      </p:pic>
      <p:pic>
        <p:nvPicPr>
          <p:cNvPr id="11" name="图形 10" descr="徽章勾号 1 纯色填充">
            <a:extLst>
              <a:ext uri="{FF2B5EF4-FFF2-40B4-BE49-F238E27FC236}">
                <a16:creationId xmlns:a16="http://schemas.microsoft.com/office/drawing/2014/main" id="{B38F139C-8609-3402-C6DB-C9B7157670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9974" y="5589903"/>
            <a:ext cx="385440" cy="385440"/>
          </a:xfrm>
          <a:prstGeom prst="rect">
            <a:avLst/>
          </a:prstGeom>
        </p:spPr>
      </p:pic>
      <p:pic>
        <p:nvPicPr>
          <p:cNvPr id="12" name="图形 11" descr="徽章勾号 1 纯色填充">
            <a:extLst>
              <a:ext uri="{FF2B5EF4-FFF2-40B4-BE49-F238E27FC236}">
                <a16:creationId xmlns:a16="http://schemas.microsoft.com/office/drawing/2014/main" id="{AFFA4101-D9F9-CE5D-AE82-326FE19680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1304" y="5597957"/>
            <a:ext cx="385440" cy="385440"/>
          </a:xfrm>
          <a:prstGeom prst="rect">
            <a:avLst/>
          </a:prstGeom>
        </p:spPr>
      </p:pic>
      <p:pic>
        <p:nvPicPr>
          <p:cNvPr id="13" name="图片 12" descr="Project Path: C:\Users\bozhang\OneDrive - 瀚博半导体(上海)有限公司\文档\OriginLab\User Files\data\lowlevel-perf-multicore.opju&#10;PE Folder: /lowlevel-perf-multicore/Folder1/&#10;Short Name: multicore-FPS-Enc-6cha">
            <a:extLst>
              <a:ext uri="{FF2B5EF4-FFF2-40B4-BE49-F238E27FC236}">
                <a16:creationId xmlns:a16="http://schemas.microsoft.com/office/drawing/2014/main" id="{8627DE70-B35B-B466-204B-D2C4A28953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54" y="606013"/>
            <a:ext cx="6526366" cy="499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49463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炫酷立体商业融资创业计划书PPT模板"/>
  <p:tag name="ISPRING_ULTRA_SCORM_COURSE_ID" val="1A682973-CEF3-4406-A3BF-D62DDEB978AA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3274</TotalTime>
  <Words>456</Words>
  <Application>Microsoft Office PowerPoint</Application>
  <PresentationFormat>宽屏</PresentationFormat>
  <Paragraphs>112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华文楷体</vt:lpstr>
      <vt:lpstr>微软雅黑</vt:lpstr>
      <vt:lpstr>Arial</vt:lpstr>
      <vt:lpstr>Calibri</vt:lpstr>
      <vt:lpstr>Calibri Light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蓝色炫酷立体商业融资创业计划书PPT模板</dc:title>
  <dc:creator>Stephanie Ji 季爱萍</dc:creator>
  <cp:lastModifiedBy>Bo Zhang 张波</cp:lastModifiedBy>
  <cp:revision>385</cp:revision>
  <dcterms:created xsi:type="dcterms:W3CDTF">2015-01-17T13:15:00Z</dcterms:created>
  <dcterms:modified xsi:type="dcterms:W3CDTF">2023-03-29T11:18:06Z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6F3EE674A3C44B119ABFD11F3746160C</vt:lpwstr>
  </property>
</Properties>
</file>